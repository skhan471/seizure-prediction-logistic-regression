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58952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6858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A93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SEIZURE PREDICTION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7772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Effect of Preprocessing Order,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Complexity &amp; Regularisation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Generalisation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3063240"/>
            <a:ext cx="50292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0040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[Saqib Hussain]  ·  [256406202]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584448"/>
            <a:ext cx="6858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Mining ·  Semester Major Assignment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196596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976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233672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Datasets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06040" y="4206240"/>
            <a:ext cx="196596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29768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63240" y="4233672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Pipelines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4206240"/>
            <a:ext cx="196596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976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4233672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Regularisers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903720" y="4206240"/>
            <a:ext cx="1965960" cy="6858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29768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60920" y="4233672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Imbalance Methods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991210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99121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5448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Motivation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350008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Why seizure prediction? Why ML?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463040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463040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51176" y="155448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51176" y="1938528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Collection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51176" y="2350008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CHB-MIT · Bonn-EEG · Kaggle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2856" y="1463040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2856" y="1463040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55448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72584" y="1938528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Pipelines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2350008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Pipeline A vs Pipeline 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84264" y="1463040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84264" y="1463040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554480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93992" y="1938528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93992" y="2350008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Logistic Regression + metrics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52928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944368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29768" y="3328416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Over/Underfitting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73989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Validation &amp; learning curves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41448" y="2852928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41448" y="2852928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51176" y="2944368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51176" y="3328416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Regularisation Study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51176" y="373989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L1, L2, Elastic Net comparison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62856" y="2852928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62856" y="2852928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2944368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672584" y="3328416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 Handling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72584" y="373989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SMOTE, undersample, weighting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84264" y="2852928"/>
            <a:ext cx="201168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84264" y="2852928"/>
            <a:ext cx="54864" cy="12801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992" y="2944368"/>
            <a:ext cx="548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93992" y="3328416"/>
            <a:ext cx="184708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93992" y="373989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4 key research questions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AGENDA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49654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4965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01 –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Seizure Prediction?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E6C4D"/>
                </a:solidFill>
              </a:rPr>
              <a:t>50M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1527048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</a:rPr>
              <a:t>people worldwide affected by epilepsy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41148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6032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E6C4D"/>
                </a:solidFill>
              </a:rPr>
              <a:t>70%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2624328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</a:rPr>
              <a:t>of seizures could be controlled with treatment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41148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57600"/>
            <a:ext cx="1371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E6C4D"/>
                </a:solidFill>
              </a:rPr>
              <a:t>2–10%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20240" y="3721608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D2BD"/>
                </a:solidFill>
              </a:rPr>
              <a:t>of EEG recording is ictal (seizure)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4114800" cy="34747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41732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</a:rPr>
              <a:t>Core ML Challenges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8404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</a:rPr>
              <a:t>Severe class imbalance (seizure epochs rare)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</a:rPr>
              <a:t>High-dimensional correlated EEG features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</a:rPr>
              <a:t>Preprocessing artefacts (baseline drift, noise)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</a:rPr>
              <a:t>Generalisation across patients and datasets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2F7"/>
                </a:solidFill>
              </a:rPr>
              <a:t>Choosing the right regularisation strategy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MOTIVATION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39266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43926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02 – DATASETS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Benchmark Datasets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8892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88920" cy="50292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25786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CHB-MIT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n = 5,000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9.2% seizure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88336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64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72384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Sep = 0.9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Paediatric scalp EEG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Severely imbalanced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High-dim, hard to separate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280160"/>
            <a:ext cx="278892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280160"/>
            <a:ext cx="278892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298448"/>
            <a:ext cx="25786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Bonn-EEG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383280" y="1920240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920240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n = 2,000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30428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304288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21.1% seizure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688336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688336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32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07238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072384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Sep = 1.1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52044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Intracranial EEG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Moderate imbalance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Mid-dim spectral features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280160"/>
            <a:ext cx="278892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280160"/>
            <a:ext cx="2788920" cy="502920"/>
          </a:xfrm>
          <a:prstGeom prst="rect">
            <a:avLst/>
          </a:prstGeom>
          <a:solidFill>
            <a:srgbClr val="2D9E69"/>
          </a:solidFill>
          <a:ln w="12700">
            <a:solidFill>
              <a:srgbClr val="2D9E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298448"/>
            <a:ext cx="25786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Kaggle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09360" y="1920240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920240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n = 1,000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30428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304288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38.7% seizure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688336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688336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20 features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07238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072384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Sep = 1.3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52044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Extracted stat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Near-balanced 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Easiest separability</a:t>
            </a:r>
            <a:endParaRPr lang="en-US" sz="1000" dirty="0"/>
          </a:p>
        </p:txBody>
      </p:sp>
      <p:pic>
        <p:nvPicPr>
          <p:cNvPr id="41" name="Image 0" descr="/home/claude/figures/fig1_dataset_distribution.png"/>
          <p:cNvPicPr>
            <a:picLocks noChangeAspect="1"/>
          </p:cNvPicPr>
          <p:nvPr/>
        </p:nvPicPr>
        <p:blipFill>
          <a:blip r:embed="rId1">
            <a:alphaModFix amt="0"/>
          </a:blip>
          <a:stretch>
            <a:fillRect/>
          </a:stretch>
        </p:blipFill>
        <p:spPr>
          <a:xfrm>
            <a:off x="320040" y="4800600"/>
            <a:ext cx="8503920" cy="25603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DATASET COLLECTION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39266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43926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02 – DATASETS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Distribution Across Datasets</a:t>
            </a:r>
            <a:endParaRPr lang="en-US" sz="2200" dirty="0"/>
          </a:p>
        </p:txBody>
      </p:sp>
      <p:pic>
        <p:nvPicPr>
          <p:cNvPr id="5" name="Image 0" descr="/home/claude/figures/fig1_dataset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931920"/>
            <a:ext cx="246888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395935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E6C4D"/>
                </a:solidFill>
              </a:rPr>
              <a:t>9.2%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441655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2F7"/>
                </a:solidFill>
              </a:rPr>
              <a:t>Severely Imbalanced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3931920"/>
            <a:ext cx="246888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29000" y="395935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396"/>
                </a:solidFill>
              </a:rPr>
              <a:t>21.1%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429000" y="441655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2F7"/>
                </a:solidFill>
              </a:rPr>
              <a:t>Moderately Imbalanced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931920"/>
            <a:ext cx="246888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395935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9E69"/>
                </a:solidFill>
              </a:rPr>
              <a:t>38.7%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09360" y="4416552"/>
            <a:ext cx="2286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2F7"/>
                </a:solidFill>
              </a:rPr>
              <a:t>Near Balanced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DATASET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887322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88732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03 – PREPROCESSING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Preprocessing Pipelines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3520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931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FFFFFF"/>
                </a:solidFill>
              </a:rPr>
              <a:t>PIPELINE 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840480" cy="5029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1. StandardScaler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2468880"/>
            <a:ext cx="0" cy="137160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3840480" cy="5029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0604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2. SelectKBest (ANOVA-F, k=15)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INSIGHT: Scale-invariant ranking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24528"/>
            <a:ext cx="38404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Normalise BEFORE scoring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to avoid scale bias in ANOVA-F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280160"/>
            <a:ext cx="4114800" cy="3520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80160"/>
            <a:ext cx="4114800" cy="5029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98448"/>
            <a:ext cx="3931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8899AA"/>
                </a:solidFill>
              </a:rPr>
              <a:t>PIPELINE 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965960"/>
            <a:ext cx="3840480" cy="4754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965960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</a:rPr>
              <a:t>1. MinMaxScaler [0,1]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2441448"/>
            <a:ext cx="0" cy="118872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60320"/>
            <a:ext cx="3840480" cy="4754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560320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</a:rPr>
              <a:t>2. StandardScaler (re-centre)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3035808"/>
            <a:ext cx="0" cy="118872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54680"/>
            <a:ext cx="3840480" cy="47548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154680"/>
            <a:ext cx="3840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</a:rPr>
              <a:t>3. PCA (n=10 components)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7033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03320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LIMITATION: PCA discards minority-class variance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29768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Bound → Centre → Project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order suppresses spike artefacts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PREPROCESSING PIPELINES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439266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43926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04 – BASELINE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Baseline: Logistic Regression (C=1.0, L2)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D2B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P(y = 1 | x)  =  1 / (1 + exp(−(β₀ + βᵀx)))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697480" cy="2606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40280"/>
            <a:ext cx="2697480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77440"/>
            <a:ext cx="2487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Accuracy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2852928"/>
            <a:ext cx="2487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</a:rPr>
              <a:t>Overall % correctly classified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410712"/>
            <a:ext cx="248716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For balanced sets; misleading on imbalanced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2697480" cy="2606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240280"/>
            <a:ext cx="2697480" cy="914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377440"/>
            <a:ext cx="2487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F1-Score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2852928"/>
            <a:ext cx="2487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</a:rPr>
              <a:t>Harmonic mean of precision &amp; 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3410712"/>
            <a:ext cx="248716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Better than accuracy for imbalanced classes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240280"/>
            <a:ext cx="2697480" cy="26060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240280"/>
            <a:ext cx="2697480" cy="9144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377440"/>
            <a:ext cx="2487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PR-AUC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44768" y="2852928"/>
            <a:ext cx="2487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D2BD"/>
                </a:solidFill>
              </a:rPr>
              <a:t>Area under precision-recall curve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3410712"/>
            <a:ext cx="248716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PRIMARY metric — unaffected by true-negative inflation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BASELINE MODEL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156155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15615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04 – BASELINE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A vs B — Baseline PR-AUC</a:t>
            </a:r>
            <a:endParaRPr lang="en-US" sz="2200" dirty="0"/>
          </a:p>
        </p:txBody>
      </p:sp>
      <p:pic>
        <p:nvPicPr>
          <p:cNvPr id="5" name="Image 0" descr="/home/claude/figures/fig2_pr_curves_bas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32104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840480"/>
            <a:ext cx="269748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85876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CHB-MIT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2F7"/>
                </a:solidFill>
              </a:rPr>
              <a:t>A: 0.766  B: 0.554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53128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</a:rPr>
              <a:t>Pipeline A leads by +0.212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3840480"/>
            <a:ext cx="269748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385876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Bonn-EEG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29000" y="4160520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2F7"/>
                </a:solidFill>
              </a:rPr>
              <a:t>A: 0.937  B: 0.854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29000" y="4453128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</a:rPr>
              <a:t>Pipeline A leads by +0.083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63640" y="3840480"/>
            <a:ext cx="269748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385876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Kaggle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55080" y="4160520"/>
            <a:ext cx="2514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2F7"/>
                </a:solidFill>
              </a:rPr>
              <a:t>A: 0.984  B: 0.977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4453128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</a:rPr>
              <a:t>Pipeline A leads by +0.007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8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BASELINE RESULTS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245766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24576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05 – OVER/UNDERFITTING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Demonstrating Bias-Variance Trade-off</a:t>
            </a:r>
            <a:endParaRPr lang="en-US" sz="2400" dirty="0"/>
          </a:p>
        </p:txBody>
      </p:sp>
      <p:pic>
        <p:nvPicPr>
          <p:cNvPr id="5" name="Image 0" descr="/home/claude/figures/fig3_overfit_underf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32104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251960"/>
            <a:ext cx="269748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4251960"/>
            <a:ext cx="2697480" cy="73152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2511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6C4D"/>
                </a:solidFill>
              </a:rPr>
              <a:t>Underfitting  (C=0.0001)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608576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= 0.000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0200" y="45262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All coef →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Predicts majority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0" y="4251960"/>
            <a:ext cx="269748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4251960"/>
            <a:ext cx="2697480" cy="73152"/>
          </a:xfrm>
          <a:prstGeom prst="rect">
            <a:avLst/>
          </a:prstGeom>
          <a:solidFill>
            <a:srgbClr val="2D9E69"/>
          </a:solidFill>
          <a:ln w="12700">
            <a:solidFill>
              <a:srgbClr val="2D9E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432511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E69"/>
                </a:solidFill>
              </a:rPr>
              <a:t>Balanced  (C=1.0)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91840" y="4608576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= 0.807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34840" y="45262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Optimal bias-variance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Sweet spot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4251960"/>
            <a:ext cx="269748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4251960"/>
            <a:ext cx="269748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4325112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</a:rPr>
              <a:t>Overfitting  (C=10,000)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26480" y="4608576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≈ 0.815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45262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Train/val gap widens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</a:rPr>
              <a:t>Excess variance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9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OVERFITTING &amp; UNDERFITTING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976933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97693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06 – REGULARISATION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/ L2 / Elastic Net Study</a:t>
            </a:r>
            <a:endParaRPr lang="en-US" sz="2400" dirty="0"/>
          </a:p>
        </p:txBody>
      </p:sp>
      <p:pic>
        <p:nvPicPr>
          <p:cNvPr id="5" name="Image 0" descr="/home/claude/figures/fig4_regularisation_stud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6692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234440"/>
            <a:ext cx="260604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1234440"/>
            <a:ext cx="64008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30759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 Ridge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164592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Smooth shrinkage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Best mean PR-AUC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No zeros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2514600"/>
            <a:ext cx="260604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2514600"/>
            <a:ext cx="64008" cy="109728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58775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 Lasso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292608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Sparsity via zeros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Collapses at low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Weakest overall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3794760"/>
            <a:ext cx="260604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3794760"/>
            <a:ext cx="64008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86791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Elastic Net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4206240"/>
            <a:ext cx="237744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L1 + L2 hybrid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2nd-best stability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Safer default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REGULARISATION STUDY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693822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69382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06 – REGULARISATION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Sparsity Analysis &amp; Mean PR-AUC</a:t>
            </a:r>
            <a:endParaRPr lang="en-US" sz="2400" dirty="0"/>
          </a:p>
        </p:txBody>
      </p:sp>
      <p:pic>
        <p:nvPicPr>
          <p:cNvPr id="5" name="Image 0" descr="/home/claude/figures/fig5_sparsity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1872"/>
            <a:ext cx="3657600" cy="2157984"/>
          </a:xfrm>
          <a:prstGeom prst="rect">
            <a:avLst/>
          </a:prstGeom>
        </p:spPr>
      </p:pic>
      <p:pic>
        <p:nvPicPr>
          <p:cNvPr id="6" name="Image 1" descr="/home/claude/figures/fig10_regularis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61872"/>
            <a:ext cx="4663440" cy="24323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3794760"/>
            <a:ext cx="278892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75488" y="3822192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9396"/>
                </a:solidFill>
              </a:rPr>
              <a:t>#1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05840" y="3840480"/>
            <a:ext cx="2057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L2 leads mean PR-AUC on ALL 3 datasets across C grid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91840" y="3794760"/>
            <a:ext cx="278892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401568" y="3822192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C46A"/>
                </a:solidFill>
              </a:rPr>
              <a:t>#2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931920" y="3840480"/>
            <a:ext cx="2057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L1 sparsity peaks at 26.7% (Kaggle) – SelectKBest already pre-filters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3794760"/>
            <a:ext cx="278892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27648" y="3822192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E6C4D"/>
                </a:solidFill>
              </a:rPr>
              <a:t>#3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858000" y="3840480"/>
            <a:ext cx="2057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L2–L1 gap largest on CHB-MIT: +0.074 PR-AUC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11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REGULARISATION FINDINGS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335378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33537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07 – IMBALANCE HANDLING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Imbalance: Four Strategies</a:t>
            </a:r>
            <a:endParaRPr lang="en-US" sz="2400" dirty="0"/>
          </a:p>
        </p:txBody>
      </p:sp>
      <p:pic>
        <p:nvPicPr>
          <p:cNvPr id="5" name="Image 0" descr="/home/claude/figures/fig6a_imbalance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8321040" cy="289864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65760" y="416052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4D2BD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4D2BD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4D2BD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4D2BD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4D2BD"/>
                          </a:solidFill>
                        </a:rPr>
                        <a:t>PR-AUC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No Correction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0.922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6C4D"/>
                          </a:solidFill>
                        </a:rPr>
                        <a:t>0.641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0.756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0.766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SMOTE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0.468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E6C4D"/>
                          </a:solidFill>
                        </a:rPr>
                        <a:t>0.783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0.585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0.761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Undersampling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0.450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E6C4D"/>
                          </a:solidFill>
                        </a:rPr>
                        <a:t>0.783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0.571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0.758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Class Weighting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0.449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E6C4D"/>
                          </a:solidFill>
                        </a:rPr>
                        <a:t>0.772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1F3C"/>
                          </a:solidFill>
                        </a:rPr>
                        <a:t>0.568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F3C"/>
                          </a:solidFill>
                        </a:rPr>
                        <a:t>0.767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589520" y="4160520"/>
            <a:ext cx="1463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CHB-MIT (9.2% seizure)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IMBALANCE HANDLING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514600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07 – INTERACTION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 Method × Regulariser Interaction</a:t>
            </a:r>
            <a:endParaRPr lang="en-US" sz="2200" dirty="0"/>
          </a:p>
        </p:txBody>
      </p:sp>
      <p:pic>
        <p:nvPicPr>
          <p:cNvPr id="5" name="Image 0" descr="/home/claude/figures/fig7_interaction_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3163824"/>
          </a:xfrm>
          <a:prstGeom prst="rect">
            <a:avLst/>
          </a:prstGeom>
        </p:spPr>
      </p:pic>
      <p:pic>
        <p:nvPicPr>
          <p:cNvPr id="6" name="Image 1" descr="/home/claude/figures/fig6b_prauc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3291840" cy="1627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32120" y="2999232"/>
            <a:ext cx="34290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Class weighting + L2 → best PR-AUC (0.767)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9C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SMOTE + L2 close behind (0.761)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Interaction strongest on CHB-MIT (most imbalanced)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Nearly absent on Kaggle (near-balanced)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Any correction ↑ recall vs no correction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INTERACTION ANALYSIS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514600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08 – COMPARATIVE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Research Questions — Answered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0624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2062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35608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9396"/>
                </a:solidFill>
              </a:rPr>
              <a:t>Q1  Does preprocessing ORDER matter?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YES — Pipeline A beats B on all datasets.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+0.213 PR-AUC on CHB-MIT (most imbalanced).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Normalise before ANOVA-F to avoid scale bias.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20624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25880"/>
            <a:ext cx="4206240" cy="64008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35608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6C4D"/>
                </a:solidFill>
              </a:rPr>
              <a:t>Q2  Which regulariser generalises best?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931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L2 (Ridge) achieves highest mean PR-AUC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across the full C grid on all 3 datasets.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Smooth quadratic penalty avoids abrupt collapse.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20624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54680"/>
            <a:ext cx="420624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64408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C46A"/>
                </a:solidFill>
              </a:rPr>
              <a:t>Q3  Does Elastic Net outperform L1/L2?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3931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EN outperforms L1 in all cases.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EN does NOT outperform L2 here — SelectKBest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pre-applies sparsity, making L2 sufficient.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420624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4206240" cy="64008"/>
          </a:xfrm>
          <a:prstGeom prst="rect">
            <a:avLst/>
          </a:prstGeom>
          <a:solidFill>
            <a:srgbClr val="2D9E69"/>
          </a:solidFill>
          <a:ln w="12700">
            <a:solidFill>
              <a:srgbClr val="2D9E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64408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9E69"/>
                </a:solidFill>
              </a:rPr>
              <a:t>Q4  Imbalance × regulariser interaction?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703320"/>
            <a:ext cx="3931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Interaction strongest on CHB-MIT (9.2%).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Class weighting + L2 → best PR-AUC.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Correction shifts precision-recall trade-off.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COMPARATIVE ANALYSIS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349654" cy="256032"/>
          </a:xfrm>
          <a:prstGeom prst="roundRect">
            <a:avLst>
              <a:gd name="adj" fmla="val 21429"/>
            </a:avLst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34965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FFFFFF"/>
                </a:solidFill>
              </a:rPr>
              <a:t>08 –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Performance Summary</a:t>
            </a:r>
            <a:endParaRPr lang="en-US" sz="2200" dirty="0"/>
          </a:p>
        </p:txBody>
      </p:sp>
      <p:pic>
        <p:nvPicPr>
          <p:cNvPr id="5" name="Image 0" descr="/home/claude/figures/fig9_pipeline_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212080" cy="1993392"/>
          </a:xfrm>
          <a:prstGeom prst="rect">
            <a:avLst/>
          </a:prstGeom>
        </p:spPr>
      </p:pic>
      <p:pic>
        <p:nvPicPr>
          <p:cNvPr id="6" name="Image 1" descr="/home/claude/figures/fig8_radar_regulari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143000"/>
            <a:ext cx="3200400" cy="2606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3383280"/>
            <a:ext cx="201168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3410712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396"/>
                </a:solidFill>
              </a:rPr>
              <a:t>0.766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457200" y="422452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CHB-MIT PR-AUC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Pipeline A, L2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514600" y="3383280"/>
            <a:ext cx="201168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606040" y="3410712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9396"/>
                </a:solidFill>
              </a:rPr>
              <a:t>0.937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606040" y="422452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Bonn PR-AUC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Pipeline A, L2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63440" y="3383280"/>
            <a:ext cx="201168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54880" y="3410712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E6C4D"/>
                </a:solidFill>
              </a:rPr>
              <a:t>+0.213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754880" y="422452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PR-AUC gain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A vs B on CHB-MIT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12280" y="3383280"/>
            <a:ext cx="201168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903720" y="3410712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</a:rPr>
              <a:t>0.767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903720" y="422452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Best PR-AUC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EF2F7"/>
                </a:solidFill>
              </a:rPr>
              <a:t>Weighting + L2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15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65760" y="4841748"/>
            <a:ext cx="3657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8899AA"/>
                </a:solidFill>
              </a:rPr>
              <a:t>SUMMARY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77240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9396"/>
                </a:solidFill>
              </a:rPr>
              <a:t>KEY CONCLUSIONS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Principal Contributions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600200"/>
            <a:ext cx="54864" cy="9144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655064"/>
            <a:ext cx="7955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</a:rPr>
              <a:t>① Preprocessing ORDER is not stylistic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002536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StandardScaler → SelectKBest yields +0.213 PR-AUC on CHB-MIT vs PCA pipeline.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Normalise BEFORE feature ranking to ensure scale-invariant ANOVA-F scoring.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651760"/>
            <a:ext cx="54864" cy="914400"/>
          </a:xfrm>
          <a:prstGeom prst="rect">
            <a:avLst/>
          </a:prstGeom>
          <a:solidFill>
            <a:srgbClr val="EE6C4D"/>
          </a:solidFill>
          <a:ln w="12700">
            <a:solidFill>
              <a:srgbClr val="EE6C4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706624"/>
            <a:ext cx="7955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</a:rPr>
              <a:t>② L2 leads; Elastic Net is the safe default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054096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L2 achieves best mean PR-AUC when upstream feature selection is applied.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Elastic Net outperforms L1 in all settings and is recommended without SelectKBest.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703320"/>
            <a:ext cx="54864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758184"/>
            <a:ext cx="7955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③ PR-AUC is the right metric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4105656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Imbalance correction shifts precision-recall operating point — not PR-AUC.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EF2F7"/>
                </a:solidFill>
              </a:rPr>
              <a:t>Use PR-AUC (not F1 or accuracy) as the primary selection criterion for clinical tasks.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773168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</a:rPr>
              <a:t>Future Work: Extend to SVM / Gradient Boosting and cross-patient generalisation scenarios.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732520" y="4823460"/>
            <a:ext cx="320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99AA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5527</Words>
  <Application>WPS Presentation</Application>
  <PresentationFormat>On-screen Show (16:9)</PresentationFormat>
  <Paragraphs>492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– ML Assignment</dc:title>
  <dc:creator>Student</dc:creator>
  <dc:subject>PptxGenJS Presentation</dc:subject>
  <cp:lastModifiedBy>Saqib Ss</cp:lastModifiedBy>
  <cp:revision>2</cp:revision>
  <dcterms:created xsi:type="dcterms:W3CDTF">2026-05-23T04:20:00Z</dcterms:created>
  <dcterms:modified xsi:type="dcterms:W3CDTF">2026-05-23T06:43:26Z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09B6ADB8FFD04ED48F8509185E5C75DA_12</vt:lpwstr>
  </property>
  <property fmtid="{D5CDD505-2E9C-101B-9397-08002B2CF9AE}" pid="3" name="KSOProductBuildVer">
    <vt:lpwstr>1033-12.1.0.26372</vt:lpwstr>
  </property>
</Properties>
</file>